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4" r:id="rId6"/>
    <p:sldId id="260" r:id="rId7"/>
    <p:sldId id="262" r:id="rId8"/>
  </p:sldIdLst>
  <p:sldSz cx="12192000" cy="6858000"/>
  <p:notesSz cx="6858000" cy="9144000"/>
  <p:embeddedFontLst>
    <p:embeddedFont>
      <p:font typeface="Inter" panose="020B0604020202020204" charset="0"/>
      <p:regular r:id="rId10"/>
      <p:bold r:id="rId11"/>
      <p:italic r:id="rId12"/>
      <p:boldItalic r:id="rId13"/>
    </p:embeddedFont>
    <p:embeddedFont>
      <p:font typeface="Urbanist" panose="020B060402020202020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30B1A6-AF26-4CA6-AE20-E091B01E48B3}" v="2" dt="2026-04-23T22:07:18.1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microsoft.com/office/2015/10/relationships/revisionInfo" Target="revisionInfo.xml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il Naroznowski" userId="21bfbc1b-70a1-48c1-8ea9-d8975d17852a" providerId="ADAL" clId="{E1CA731B-E5FA-4A46-B9DA-B05E705FB7B1}"/>
    <pc:docChg chg="modSld sldOrd">
      <pc:chgData name="Neil Naroznowski" userId="21bfbc1b-70a1-48c1-8ea9-d8975d17852a" providerId="ADAL" clId="{E1CA731B-E5FA-4A46-B9DA-B05E705FB7B1}" dt="2026-04-23T22:07:18.161" v="3" actId="20577"/>
      <pc:docMkLst>
        <pc:docMk/>
      </pc:docMkLst>
      <pc:sldChg chg="modSp mod ord">
        <pc:chgData name="Neil Naroznowski" userId="21bfbc1b-70a1-48c1-8ea9-d8975d17852a" providerId="ADAL" clId="{E1CA731B-E5FA-4A46-B9DA-B05E705FB7B1}" dt="2026-04-23T22:07:18.161" v="3" actId="20577"/>
        <pc:sldMkLst>
          <pc:docMk/>
          <pc:sldMk cId="0" sldId="260"/>
        </pc:sldMkLst>
        <pc:spChg chg="mod">
          <ac:chgData name="Neil Naroznowski" userId="21bfbc1b-70a1-48c1-8ea9-d8975d17852a" providerId="ADAL" clId="{E1CA731B-E5FA-4A46-B9DA-B05E705FB7B1}" dt="2026-04-23T22:07:18.161" v="3" actId="20577"/>
          <ac:spMkLst>
            <pc:docMk/>
            <pc:sldMk cId="0" sldId="260"/>
            <ac:spMk id="14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3AE3FEAA-D941-3A20-BF86-95F11052F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>
            <a:extLst>
              <a:ext uri="{FF2B5EF4-FFF2-40B4-BE49-F238E27FC236}">
                <a16:creationId xmlns:a16="http://schemas.microsoft.com/office/drawing/2014/main" id="{22C7382A-9965-E8C6-7E9E-1A33DA9174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:notes">
            <a:extLst>
              <a:ext uri="{FF2B5EF4-FFF2-40B4-BE49-F238E27FC236}">
                <a16:creationId xmlns:a16="http://schemas.microsoft.com/office/drawing/2014/main" id="{6F7B2ADF-08CA-B60B-9130-F2BC4AC644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806894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8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inductiveautomation.com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realpython.com/api-integration-in-python/" TargetMode="External"/><Relationship Id="rId4" Type="http://schemas.openxmlformats.org/officeDocument/2006/relationships/hyperlink" Target="https://neo4j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295400" y="2104132"/>
            <a:ext cx="9601200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Cognitive </a:t>
            </a:r>
            <a:r>
              <a:rPr lang="en-US" sz="5400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SCADA</a:t>
            </a:r>
            <a:r>
              <a:rPr lang="en-US" sz="54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Assistant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524000" y="3106042"/>
            <a:ext cx="91440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AGI Final Project: Bridging AI and Industrial Facility Management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715000" y="3858517"/>
            <a:ext cx="762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524000" y="4277617"/>
            <a:ext cx="9144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Neil Naroznowski CIS_5590 Spring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696342"/>
            <a:ext cx="522922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510855"/>
            <a:ext cx="2519362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90887" y="3510855"/>
            <a:ext cx="2519362" cy="18954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81025" y="2463105"/>
            <a:ext cx="52292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Modern facilities rely on industry giants to manage critical infrastructure. However, these systems often operate in isolated silos.</a:t>
            </a:r>
            <a:endParaRPr/>
          </a:p>
        </p:txBody>
      </p:sp>
      <p:pic>
        <p:nvPicPr>
          <p:cNvPr id="98" name="Google Shape;9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91275" y="1705867"/>
            <a:ext cx="521017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781050" y="3710880"/>
            <a:ext cx="222527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Industry Leaders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81050" y="4139505"/>
            <a:ext cx="211931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Siemens, Johnson Controls (JCI), and Automated Logic (ALC) represent the "Body" of modern BAS.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3490912" y="3710880"/>
            <a:ext cx="222527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Gap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3490912" y="4139505"/>
            <a:ext cx="2119312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Proprietary protocols make advanced AI reasoning difficult to implement natively.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71525" y="581025"/>
            <a:ext cx="11381422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Industry Standard: </a:t>
            </a:r>
            <a:r>
              <a:rPr lang="en-US" sz="3150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Proprietary Ecosystems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581025" y="581025"/>
            <a:ext cx="57150" cy="43993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696342"/>
            <a:ext cx="522922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0550" y="1705867"/>
            <a:ext cx="521017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6381750" y="2586930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Cognitive Intelligence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381750" y="2996505"/>
            <a:ext cx="52292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We transitioned from simple "point monitoring" to "semantic reasoning." Our assistant doesn't just read data; it understands building physics.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381750" y="4044255"/>
            <a:ext cx="52292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By combining </a:t>
            </a:r>
            <a:r>
              <a:rPr lang="en-US" sz="15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Natural Language Processing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with </a:t>
            </a:r>
            <a:r>
              <a:rPr lang="en-US" sz="15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Graph Data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, we created a tool that allows operators to ask complex topological questions in plain English.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771525" y="581025"/>
            <a:ext cx="11381422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Project Idea: </a:t>
            </a:r>
            <a:r>
              <a:rPr lang="en-US" sz="3150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Neuro-Symbolic Reasoning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581025" y="581025"/>
            <a:ext cx="57150" cy="43993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/>
          <p:nvPr/>
        </p:nvSpPr>
        <p:spPr>
          <a:xfrm>
            <a:off x="581025" y="3172717"/>
            <a:ext cx="1102995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581025" y="4982467"/>
            <a:ext cx="110299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Result: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 fully decoupled system where the AI Reasoning Engine is accessible via simple HTTP POST requests.</a:t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1735137" y="330606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38100" cap="flat" cmpd="sng">
            <a:solidFill>
              <a:srgbClr val="0206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517605" y="2982217"/>
            <a:ext cx="2663614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1. Haystack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581025" y="3610867"/>
            <a:ext cx="25367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Standardized metadata tagging for site-b (Bravo) dataset.</a:t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4566121" y="331469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38100" cap="flat" cmpd="sng">
            <a:solidFill>
              <a:srgbClr val="0206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3348614" y="2982217"/>
            <a:ext cx="2663614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2. Neo4j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3412033" y="3610867"/>
            <a:ext cx="25367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Graph database modeling physical HVAC relationships.</a:t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7397141" y="329654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38100" cap="flat" cmpd="sng">
            <a:solidFill>
              <a:srgbClr val="0206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6179622" y="2982217"/>
            <a:ext cx="2663614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3. FastAPI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243042" y="3610867"/>
            <a:ext cx="25367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Python REST bridge for AI-to-SCADA communication.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10228126" y="330606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38100" cap="flat" cmpd="sng">
            <a:solidFill>
              <a:srgbClr val="0206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9010631" y="2982217"/>
            <a:ext cx="2663614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4. Ignition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9074050" y="3610867"/>
            <a:ext cx="25367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Perspective frontend for real-time operator interaction.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771525" y="581025"/>
            <a:ext cx="11381422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"Brain" Architecture: </a:t>
            </a:r>
            <a:r>
              <a:rPr lang="en-US" sz="3150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A 4-Tier Stack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581025" y="581025"/>
            <a:ext cx="57150" cy="43993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41">
          <a:extLst>
            <a:ext uri="{FF2B5EF4-FFF2-40B4-BE49-F238E27FC236}">
              <a16:creationId xmlns:a16="http://schemas.microsoft.com/office/drawing/2014/main" id="{D96F2854-4B52-7F7F-CD85-D83351538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7">
            <a:extLst>
              <a:ext uri="{FF2B5EF4-FFF2-40B4-BE49-F238E27FC236}">
                <a16:creationId xmlns:a16="http://schemas.microsoft.com/office/drawing/2014/main" id="{7291847B-13A9-37B7-166E-DA0B41B39318}"/>
              </a:ext>
            </a:extLst>
          </p:cNvPr>
          <p:cNvSpPr txBox="1"/>
          <p:nvPr/>
        </p:nvSpPr>
        <p:spPr>
          <a:xfrm>
            <a:off x="6724650" y="3396555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9" name="Google Shape;149;p17">
            <a:extLst>
              <a:ext uri="{FF2B5EF4-FFF2-40B4-BE49-F238E27FC236}">
                <a16:creationId xmlns:a16="http://schemas.microsoft.com/office/drawing/2014/main" id="{1065C52E-B779-FC41-99D2-77B2076B210C}"/>
              </a:ext>
            </a:extLst>
          </p:cNvPr>
          <p:cNvSpPr txBox="1"/>
          <p:nvPr/>
        </p:nvSpPr>
        <p:spPr>
          <a:xfrm>
            <a:off x="6724650" y="4063305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1" name="Google Shape;151;p17">
            <a:extLst>
              <a:ext uri="{FF2B5EF4-FFF2-40B4-BE49-F238E27FC236}">
                <a16:creationId xmlns:a16="http://schemas.microsoft.com/office/drawing/2014/main" id="{01E32465-3776-7A5B-6C5E-DF11A6F7B301}"/>
              </a:ext>
            </a:extLst>
          </p:cNvPr>
          <p:cNvSpPr txBox="1"/>
          <p:nvPr/>
        </p:nvSpPr>
        <p:spPr>
          <a:xfrm>
            <a:off x="6724650" y="4730055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3" name="Google Shape;153;p17">
            <a:extLst>
              <a:ext uri="{FF2B5EF4-FFF2-40B4-BE49-F238E27FC236}">
                <a16:creationId xmlns:a16="http://schemas.microsoft.com/office/drawing/2014/main" id="{C42874A0-195D-146D-20A1-BCF5EA59D4B3}"/>
              </a:ext>
            </a:extLst>
          </p:cNvPr>
          <p:cNvSpPr txBox="1"/>
          <p:nvPr/>
        </p:nvSpPr>
        <p:spPr>
          <a:xfrm>
            <a:off x="771525" y="581025"/>
            <a:ext cx="11381422" cy="533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>
                <a:solidFill>
                  <a:srgbClr val="F8FAFC"/>
                </a:solidFill>
                <a:latin typeface="Inter"/>
                <a:ea typeface="Inter"/>
                <a:sym typeface="Inter"/>
              </a:rPr>
              <a:t>Current Project View</a:t>
            </a:r>
            <a:endParaRPr lang="en-US"/>
          </a:p>
        </p:txBody>
      </p:sp>
      <p:sp>
        <p:nvSpPr>
          <p:cNvPr id="154" name="Google Shape;154;p17">
            <a:extLst>
              <a:ext uri="{FF2B5EF4-FFF2-40B4-BE49-F238E27FC236}">
                <a16:creationId xmlns:a16="http://schemas.microsoft.com/office/drawing/2014/main" id="{D1D5A8B7-436E-C478-3FA1-D2844C0CB0E3}"/>
              </a:ext>
            </a:extLst>
          </p:cNvPr>
          <p:cNvSpPr/>
          <p:nvPr/>
        </p:nvSpPr>
        <p:spPr>
          <a:xfrm>
            <a:off x="581025" y="581025"/>
            <a:ext cx="57150" cy="43993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AA5457-B8C9-78B4-040C-899B0B4EBE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2078" y="3396555"/>
            <a:ext cx="2937399" cy="31607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5D489E-0508-31A1-3846-8EB1651674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6629" y="-1395662"/>
            <a:ext cx="4327109" cy="5440679"/>
          </a:xfrm>
          <a:prstGeom prst="rect">
            <a:avLst/>
          </a:prstGeom>
        </p:spPr>
      </p:pic>
      <p:pic>
        <p:nvPicPr>
          <p:cNvPr id="6" name="Ignition Video">
            <a:hlinkClick r:id="" action="ppaction://media"/>
            <a:extLst>
              <a:ext uri="{FF2B5EF4-FFF2-40B4-BE49-F238E27FC236}">
                <a16:creationId xmlns:a16="http://schemas.microsoft.com/office/drawing/2014/main" id="{D1BF5EBF-B8C8-C7BA-1A04-FFBC49CF071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37354" y="2860040"/>
            <a:ext cx="3884515" cy="351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349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83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696342"/>
            <a:ext cx="522922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6381750" y="2224980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Future Roadmap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381750" y="2634555"/>
            <a:ext cx="522922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This prototype proves the concept for the Bravo hospital RTU-2 subsystem. Moving forward, we will:</a:t>
            </a:r>
            <a:endParaRPr/>
          </a:p>
        </p:txBody>
      </p:sp>
      <p:pic>
        <p:nvPicPr>
          <p:cNvPr id="146" name="Google Shape;14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0550" y="1705867"/>
            <a:ext cx="521017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6724650" y="3396555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6762750" y="3396555"/>
            <a:ext cx="48482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Scale Up: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Expand the graph to model Power, Medical Gas, and Life Safety systems.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724650" y="4063305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762750" y="4063305"/>
            <a:ext cx="48482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Native UI: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Embed the AI Chat directly into existing SCADA overview screens.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724650" y="4730055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6762750" y="4730055"/>
            <a:ext cx="48482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Predictive AGI: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Use the graph to trace fault impacts *before* they cause comfort issues.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771525" y="581025"/>
            <a:ext cx="11381422" cy="439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Moving Forward: </a:t>
            </a:r>
            <a:r>
              <a:rPr lang="en-US" sz="3150" b="1" i="0" u="none" strike="noStrike" cap="non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Scale &amp; Native Integration</a:t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581025" y="581025"/>
            <a:ext cx="57150" cy="43993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/>
          <p:nvPr/>
        </p:nvSpPr>
        <p:spPr>
          <a:xfrm>
            <a:off x="581025" y="2686942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581025" y="3458467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771525" y="581025"/>
            <a:ext cx="11381422" cy="533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Sources</a:t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581025" y="581025"/>
            <a:ext cx="57150" cy="43993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A4871A-178C-D4E5-1CDD-B5A717B20B54}"/>
              </a:ext>
            </a:extLst>
          </p:cNvPr>
          <p:cNvSpPr txBox="1"/>
          <p:nvPr/>
        </p:nvSpPr>
        <p:spPr>
          <a:xfrm>
            <a:off x="452056" y="1412748"/>
            <a:ext cx="112878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2">
                    <a:lumMod val="40000"/>
                    <a:lumOff val="60000"/>
                  </a:schemeClr>
                </a:solidFill>
              </a:rPr>
              <a:t>Ignition: </a:t>
            </a:r>
            <a:r>
              <a:rPr lang="en-US">
                <a:solidFill>
                  <a:schemeClr val="bg2">
                    <a:lumMod val="40000"/>
                    <a:lumOff val="60000"/>
                  </a:schemeClr>
                </a:solidFill>
                <a:hlinkClick r:id="rId3"/>
              </a:rPr>
              <a:t>https://inductiveautomation.com</a:t>
            </a:r>
            <a:endParaRPr lang="en-US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r>
              <a:rPr lang="en-US">
                <a:solidFill>
                  <a:schemeClr val="bg2">
                    <a:lumMod val="40000"/>
                    <a:lumOff val="60000"/>
                  </a:schemeClr>
                </a:solidFill>
              </a:rPr>
              <a:t>Neo4j: </a:t>
            </a:r>
            <a:r>
              <a:rPr lang="en-US">
                <a:solidFill>
                  <a:schemeClr val="bg2">
                    <a:lumMod val="40000"/>
                    <a:lumOff val="60000"/>
                  </a:schemeClr>
                </a:solidFill>
                <a:hlinkClick r:id="rId4"/>
              </a:rPr>
              <a:t>https://neo4j.com/</a:t>
            </a:r>
            <a:endParaRPr lang="en-US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r>
              <a:rPr lang="en-US">
                <a:solidFill>
                  <a:schemeClr val="bg2">
                    <a:lumMod val="40000"/>
                    <a:lumOff val="60000"/>
                  </a:schemeClr>
                </a:solidFill>
              </a:rPr>
              <a:t>Rest API Python: </a:t>
            </a:r>
            <a:r>
              <a:rPr lang="en-US">
                <a:solidFill>
                  <a:schemeClr val="bg2">
                    <a:lumMod val="40000"/>
                    <a:lumOff val="60000"/>
                  </a:schemeClr>
                </a:solidFill>
                <a:hlinkClick r:id="rId5"/>
              </a:rPr>
              <a:t>https://realpython.com/api-integration-in-python/</a:t>
            </a:r>
            <a:r>
              <a:rPr lang="en-US">
                <a:solidFill>
                  <a:schemeClr val="bg2">
                    <a:lumMod val="40000"/>
                    <a:lumOff val="60000"/>
                  </a:schemeClr>
                </a:solidFill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</Slides>
  <Notes>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Neil Naroznowski</dc:creator>
  <cp:revision>1</cp:revision>
  <dcterms:modified xsi:type="dcterms:W3CDTF">2026-04-23T22:08:05Z</dcterms:modified>
</cp:coreProperties>
</file>